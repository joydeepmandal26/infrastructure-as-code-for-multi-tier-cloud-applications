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60" r:id="rId4"/>
    <p:sldId id="261" r:id="rId5"/>
    <p:sldId id="262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F3F6"/>
    <a:srgbClr val="065A82"/>
    <a:srgbClr val="458C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8" autoAdjust="0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ydeep Mandal" userId="babb45edaa78bdd9" providerId="LiveId" clId="{EBBE43D8-5CAF-439A-BFCC-F389A5809D29}"/>
    <pc:docChg chg="undo custSel modSld">
      <pc:chgData name="Joydeep Mandal" userId="babb45edaa78bdd9" providerId="LiveId" clId="{EBBE43D8-5CAF-439A-BFCC-F389A5809D29}" dt="2026-09-09T06:14:04.467" v="11" actId="207"/>
      <pc:docMkLst>
        <pc:docMk/>
      </pc:docMkLst>
      <pc:sldChg chg="modSp mod">
        <pc:chgData name="Joydeep Mandal" userId="babb45edaa78bdd9" providerId="LiveId" clId="{EBBE43D8-5CAF-439A-BFCC-F389A5809D29}" dt="2026-09-09T06:14:04.467" v="11" actId="207"/>
        <pc:sldMkLst>
          <pc:docMk/>
          <pc:sldMk cId="0" sldId="261"/>
        </pc:sldMkLst>
        <pc:spChg chg="mod">
          <ac:chgData name="Joydeep Mandal" userId="babb45edaa78bdd9" providerId="LiveId" clId="{EBBE43D8-5CAF-439A-BFCC-F389A5809D29}" dt="2026-09-09T06:14:04.467" v="11" actId="207"/>
          <ac:spMkLst>
            <pc:docMk/>
            <pc:sldMk cId="0" sldId="261"/>
            <ac:spMk id="5" creationId="{00000000-0000-0000-0000-000000000000}"/>
          </ac:spMkLst>
        </pc:spChg>
        <pc:spChg chg="mod">
          <ac:chgData name="Joydeep Mandal" userId="babb45edaa78bdd9" providerId="LiveId" clId="{EBBE43D8-5CAF-439A-BFCC-F389A5809D29}" dt="2026-09-09T06:14:04.106" v="10" actId="208"/>
          <ac:spMkLst>
            <pc:docMk/>
            <pc:sldMk cId="0" sldId="261"/>
            <ac:spMk id="11" creationId="{00000000-0000-0000-0000-000000000000}"/>
          </ac:spMkLst>
        </pc:spChg>
      </pc:sldChg>
      <pc:sldChg chg="modSp mod">
        <pc:chgData name="Joydeep Mandal" userId="babb45edaa78bdd9" providerId="LiveId" clId="{EBBE43D8-5CAF-439A-BFCC-F389A5809D29}" dt="2026-09-09T05:40:28.039" v="2" actId="1076"/>
        <pc:sldMkLst>
          <pc:docMk/>
          <pc:sldMk cId="0" sldId="262"/>
        </pc:sldMkLst>
        <pc:spChg chg="mod">
          <ac:chgData name="Joydeep Mandal" userId="babb45edaa78bdd9" providerId="LiveId" clId="{EBBE43D8-5CAF-439A-BFCC-F389A5809D29}" dt="2026-09-09T05:40:28.039" v="2" actId="1076"/>
          <ac:spMkLst>
            <pc:docMk/>
            <pc:sldMk cId="0" sldId="262"/>
            <ac:spMk id="15" creationId="{00000000-0000-0000-0000-000000000000}"/>
          </ac:spMkLst>
        </pc:spChg>
        <pc:spChg chg="mod">
          <ac:chgData name="Joydeep Mandal" userId="babb45edaa78bdd9" providerId="LiveId" clId="{EBBE43D8-5CAF-439A-BFCC-F389A5809D29}" dt="2026-09-09T05:40:18.106" v="1" actId="1076"/>
          <ac:spMkLst>
            <pc:docMk/>
            <pc:sldMk cId="0" sldId="262"/>
            <ac:spMk id="2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6349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83D2D-2065-D467-8711-3C2DC1CF4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D48E8C-EA03-63D6-E1FF-15AC0115DE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6B4274-7A02-FB91-A4BA-FE13DB687C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6719C8-B673-2C9D-1A9B-388F7EBA44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5331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8595360" y="1554480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595360" y="3063240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595360" y="4572000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48640"/>
            <a:ext cx="7406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Infrastructure as Code for</a:t>
            </a:r>
            <a:endParaRPr lang="en-US" sz="4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Multi-Tier Cloud Applications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22860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ea typeface="Calibri" pitchFamily="34" charset="-122"/>
                <a:cs typeface="Calibri" pitchFamily="34" charset="-120"/>
              </a:rPr>
              <a:t>Designing and demonstrating an automated, repeatable provisioning workflow for a 3-tier cloud application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3088257"/>
            <a:ext cx="29260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3136392"/>
            <a:ext cx="10998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ea typeface="Calibri" pitchFamily="34" charset="-122"/>
                <a:cs typeface="Calibri" pitchFamily="34" charset="-120"/>
              </a:rPr>
              <a:t>Presented by:  </a:t>
            </a:r>
            <a:r>
              <a:rPr lang="en-US" sz="14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Joydeep Mandal(reg no: 26MCA0062),Deepak B(reg no:26MCA0068),Vikash Kumar(reg no: 26MCA0098)</a:t>
            </a:r>
            <a:r>
              <a:rPr lang="en-US" sz="14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
</a:t>
            </a:r>
            <a:r>
              <a:rPr lang="en-US" sz="1400" b="1" dirty="0">
                <a:solidFill>
                  <a:srgbClr val="CADCFC"/>
                </a:solidFill>
                <a:ea typeface="Calibri" pitchFamily="34" charset="-122"/>
                <a:cs typeface="Calibri" pitchFamily="34" charset="-120"/>
              </a:rPr>
              <a:t>Guide: </a:t>
            </a:r>
            <a:r>
              <a:rPr lang="en-US" sz="1400" b="1" dirty="0">
                <a:solidFill>
                  <a:srgbClr val="EAF3F6"/>
                </a:solidFill>
                <a:ea typeface="Calibri" pitchFamily="34" charset="-122"/>
                <a:cs typeface="Calibri" pitchFamily="34" charset="-120"/>
              </a:rPr>
              <a:t>Dr</a:t>
            </a:r>
            <a:r>
              <a:rPr lang="en-US" sz="1400" b="1" dirty="0">
                <a:solidFill>
                  <a:srgbClr val="CADCFC"/>
                </a:solidFill>
                <a:ea typeface="Calibri" pitchFamily="34" charset="-122"/>
                <a:cs typeface="Calibri" pitchFamily="34" charset="-120"/>
              </a:rPr>
              <a:t>.</a:t>
            </a:r>
            <a:r>
              <a:rPr lang="en-IN" sz="1400" b="1" dirty="0"/>
              <a:t> </a:t>
            </a:r>
            <a:r>
              <a:rPr lang="en-IN" sz="1400" b="1" dirty="0">
                <a:solidFill>
                  <a:srgbClr val="EAF3F6"/>
                </a:solidFill>
              </a:rPr>
              <a:t>SATHIYAMOORTHY E</a:t>
            </a:r>
            <a:r>
              <a:rPr lang="en-US" sz="14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
</a:t>
            </a:r>
            <a:r>
              <a:rPr lang="en-US" sz="1400" b="1" dirty="0">
                <a:solidFill>
                  <a:srgbClr val="CADCFC"/>
                </a:solidFill>
                <a:ea typeface="Calibri" pitchFamily="34" charset="-122"/>
                <a:cs typeface="Calibri" pitchFamily="34" charset="-120"/>
              </a:rPr>
              <a:t>Department:  </a:t>
            </a:r>
            <a:r>
              <a:rPr lang="en-US" sz="14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Cloud Computing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Definition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463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344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2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configuring multi-tier cloud environments (web, application, and database layers) is slow, error-prone, and difficult to reproduce consistently across development, testing, and production.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5440680" cy="3794760"/>
          </a:xfrm>
          <a:prstGeom prst="roundRect">
            <a:avLst>
              <a:gd name="adj" fmla="val 2410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868680" y="248716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— Manual Provisioning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68680" y="3054614"/>
            <a:ext cx="109728" cy="109728"/>
          </a:xfrm>
          <a:prstGeom prst="ellipse">
            <a:avLst/>
          </a:prstGeom>
          <a:solidFill>
            <a:srgbClr val="B3261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1115568" y="3002855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provisioned manually via console clicks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00771" y="3731011"/>
            <a:ext cx="109728" cy="109728"/>
          </a:xfrm>
          <a:prstGeom prst="ellipse">
            <a:avLst/>
          </a:prstGeom>
          <a:solidFill>
            <a:srgbClr val="B3261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1115568" y="369417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drift between environments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09828" y="4457700"/>
            <a:ext cx="109728" cy="109728"/>
          </a:xfrm>
          <a:prstGeom prst="ellipse">
            <a:avLst/>
          </a:prstGeom>
          <a:solidFill>
            <a:srgbClr val="B3261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1115568" y="437997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version history for infrastructure changes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09828" y="5117880"/>
            <a:ext cx="109728" cy="109728"/>
          </a:xfrm>
          <a:prstGeom prst="ellipse">
            <a:avLst/>
          </a:prstGeom>
          <a:solidFill>
            <a:srgbClr val="B3261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1115568" y="506577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inconsistent scaling and recovery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45007" y="2284448"/>
            <a:ext cx="5440680" cy="3794760"/>
          </a:xfrm>
          <a:prstGeom prst="roundRect">
            <a:avLst>
              <a:gd name="adj" fmla="val 2410"/>
            </a:avLst>
          </a:prstGeom>
          <a:solidFill>
            <a:srgbClr val="E4F0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6492240" y="248716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6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State — Infrastructure as Code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565738" y="3048229"/>
            <a:ext cx="109728" cy="109728"/>
          </a:xfrm>
          <a:prstGeom prst="ellipse">
            <a:avLst/>
          </a:prstGeom>
          <a:solidFill>
            <a:srgbClr val="1E6B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6739128" y="300837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defined declaratively as code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28989" y="3754907"/>
            <a:ext cx="109728" cy="109728"/>
          </a:xfrm>
          <a:prstGeom prst="ellipse">
            <a:avLst/>
          </a:prstGeom>
          <a:solidFill>
            <a:srgbClr val="1E6B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6739128" y="369417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environments every deployment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28989" y="4456752"/>
            <a:ext cx="109728" cy="109728"/>
          </a:xfrm>
          <a:prstGeom prst="ellipse">
            <a:avLst/>
          </a:prstGeom>
          <a:solidFill>
            <a:srgbClr val="1E6B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6739128" y="437997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change history tracked in version control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537960" y="5148072"/>
            <a:ext cx="109728" cy="109728"/>
          </a:xfrm>
          <a:prstGeom prst="ellipse">
            <a:avLst/>
          </a:prstGeom>
          <a:solidFill>
            <a:srgbClr val="1E6B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6739128" y="506577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repeatable provisioning and scaling</a:t>
            </a:r>
            <a:endParaRPr lang="en-US" sz="1300" dirty="0"/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 — Existing Approaches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463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1CBBC51-5034-2D8D-4CD3-11ED1CF53594}"/>
              </a:ext>
            </a:extLst>
          </p:cNvPr>
          <p:cNvSpPr/>
          <p:nvPr/>
        </p:nvSpPr>
        <p:spPr>
          <a:xfrm>
            <a:off x="579120" y="1069848"/>
            <a:ext cx="9310317" cy="3864461"/>
          </a:xfrm>
          <a:prstGeom prst="roundRect">
            <a:avLst>
              <a:gd name="adj" fmla="val 8525"/>
            </a:avLst>
          </a:prstGeom>
          <a:solidFill>
            <a:srgbClr val="EAF3F6"/>
          </a:solidFill>
          <a:ln>
            <a:solidFill>
              <a:srgbClr val="EAF3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/>
                </a:solidFill>
              </a:rPr>
              <a:t>Cloud computing enables scalable and on-demand infrastructure. </a:t>
            </a:r>
          </a:p>
          <a:p>
            <a:pPr lvl="0"/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/>
                </a:solidFill>
              </a:rPr>
              <a:t>Multi-tier cloud architecture separates </a:t>
            </a:r>
            <a:r>
              <a:rPr lang="en-IN" b="1" dirty="0">
                <a:solidFill>
                  <a:srgbClr val="458CA7"/>
                </a:solidFill>
              </a:rPr>
              <a:t>Web, Application, and Database layers</a:t>
            </a:r>
            <a:r>
              <a:rPr lang="en-IN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/>
                </a:solidFill>
              </a:rPr>
              <a:t> Infrastructure as Code (</a:t>
            </a:r>
            <a:r>
              <a:rPr lang="en-IN" dirty="0" err="1">
                <a:solidFill>
                  <a:schemeClr val="tx2"/>
                </a:solidFill>
              </a:rPr>
              <a:t>IaC</a:t>
            </a:r>
            <a:r>
              <a:rPr lang="en-IN" dirty="0">
                <a:solidFill>
                  <a:schemeClr val="tx2"/>
                </a:solidFill>
              </a:rPr>
              <a:t>) automates cloud infrastructure deployment.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/>
                </a:solidFill>
              </a:rPr>
              <a:t>Existing studies show </a:t>
            </a:r>
            <a:r>
              <a:rPr lang="en-IN" dirty="0" err="1">
                <a:solidFill>
                  <a:schemeClr val="tx2"/>
                </a:solidFill>
              </a:rPr>
              <a:t>IaC</a:t>
            </a:r>
            <a:r>
              <a:rPr lang="en-IN" dirty="0">
                <a:solidFill>
                  <a:schemeClr val="tx2"/>
                </a:solidFill>
              </a:rPr>
              <a:t> improves </a:t>
            </a:r>
            <a:r>
              <a:rPr lang="en-IN" b="1" dirty="0">
                <a:solidFill>
                  <a:srgbClr val="458CA7"/>
                </a:solidFill>
              </a:rPr>
              <a:t>deployment speed, consistency, scalability, and repeatability</a:t>
            </a:r>
            <a:r>
              <a:rPr lang="en-IN" dirty="0">
                <a:solidFill>
                  <a:srgbClr val="458CA7"/>
                </a:solidFill>
              </a:rPr>
              <a:t>.</a:t>
            </a:r>
            <a:r>
              <a:rPr lang="en-IN" dirty="0">
                <a:solidFill>
                  <a:schemeClr val="accent1"/>
                </a:solidFill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/>
                </a:solidFill>
              </a:rPr>
              <a:t>Tools such as </a:t>
            </a:r>
            <a:r>
              <a:rPr lang="en-IN" b="1" dirty="0">
                <a:solidFill>
                  <a:srgbClr val="458CA7"/>
                </a:solidFill>
              </a:rPr>
              <a:t>Terraform and AWS CloudFormation</a:t>
            </a:r>
            <a:r>
              <a:rPr lang="en-IN" dirty="0">
                <a:solidFill>
                  <a:srgbClr val="458CA7"/>
                </a:solidFill>
              </a:rPr>
              <a:t> </a:t>
            </a:r>
            <a:r>
              <a:rPr lang="en-IN" dirty="0">
                <a:solidFill>
                  <a:schemeClr val="tx2"/>
                </a:solidFill>
              </a:rPr>
              <a:t>are widely used for automated provisioning.</a:t>
            </a:r>
          </a:p>
          <a:p>
            <a:pPr algn="ctr"/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 — Cloud Providers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091932"/>
            <a:ext cx="10018718" cy="1526272"/>
          </a:xfrm>
          <a:prstGeom prst="roundRect">
            <a:avLst>
              <a:gd name="adj" fmla="val 8469"/>
            </a:avLst>
          </a:prstGeom>
          <a:solidFill>
            <a:srgbClr val="065A82"/>
          </a:solidFill>
          <a:ln>
            <a:solidFill>
              <a:srgbClr val="458CA7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822960" y="108438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462567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400" dirty="0">
              <a:solidFill>
                <a:srgbClr val="EAF3F6"/>
              </a:solidFill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822960" y="1701474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Broadest service catalogue; mature IaC ecosystem (Terraform, CDK, CloudFormation)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286500" y="1439231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Services</a:t>
            </a:r>
            <a:endParaRPr lang="en-US" sz="1400" dirty="0">
              <a:solidFill>
                <a:srgbClr val="EAF3F6"/>
              </a:solidFill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286500" y="1735635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Compute (EC2), RDS, S3, VPC, ALB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39" y="2707098"/>
            <a:ext cx="10018717" cy="1435910"/>
          </a:xfrm>
          <a:prstGeom prst="roundRect">
            <a:avLst>
              <a:gd name="adj" fmla="val 11228"/>
            </a:avLst>
          </a:prstGeom>
          <a:solidFill>
            <a:srgbClr val="EAF3F6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2" name="Text 10"/>
          <p:cNvSpPr txBox="1"/>
          <p:nvPr/>
        </p:nvSpPr>
        <p:spPr>
          <a:xfrm>
            <a:off x="687698" y="2712705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Microsoft Azure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755329" y="3042019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755329" y="3268138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enterprise/Active Directory integration; ARM templates &amp; Bicep</a:t>
            </a:r>
            <a:endParaRPr lang="en-US" sz="1200" dirty="0">
              <a:solidFill>
                <a:srgbClr val="065A82"/>
              </a:solidFill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286500" y="300757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Services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6286500" y="3244976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Service, Azure SQL, Blob Storage, VNet</a:t>
            </a:r>
            <a:endParaRPr lang="en-US" sz="1200" dirty="0">
              <a:solidFill>
                <a:srgbClr val="065A82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24946" y="4241241"/>
            <a:ext cx="10042409" cy="1695545"/>
          </a:xfrm>
          <a:prstGeom prst="roundRect">
            <a:avLst>
              <a:gd name="adj" fmla="val 10449"/>
            </a:avLst>
          </a:prstGeom>
          <a:solidFill>
            <a:srgbClr val="EAF3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687698" y="4219567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Cloud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755329" y="471233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755329" y="5009359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 in data/analytics and Kubernetes-native tooling</a:t>
            </a:r>
            <a:endParaRPr lang="en-US" sz="1200" dirty="0">
              <a:solidFill>
                <a:srgbClr val="065A82"/>
              </a:solidFill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6286500" y="466111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Services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6286500" y="4987276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Engine, Cloud SQL, Cloud Storage, VPC</a:t>
            </a:r>
            <a:endParaRPr lang="en-US" sz="1200" dirty="0">
              <a:solidFill>
                <a:srgbClr val="065A82"/>
              </a:solidFill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173736" y="415090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C0935C46-D6DE-82B6-4892-8DA93150F7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955" y="978151"/>
            <a:ext cx="1317944" cy="741343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7A2AEE27-642C-DF12-9B5F-DCB38D6C56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6590" y="2701498"/>
            <a:ext cx="375129" cy="37512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8E69370-857C-C9A2-E5D8-913F0A4F67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1229" y="4251174"/>
            <a:ext cx="448681" cy="361637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Selected Cloud Provider — AWS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EAF3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807720" y="1485469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Maturity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807720" y="184950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Widest range of managed compute, database, and networking services for a 3-tier design</a:t>
            </a:r>
            <a:endParaRPr lang="en-US" sz="1200" dirty="0">
              <a:solidFill>
                <a:srgbClr val="065A82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63640" y="141732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458C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6574191" y="1504447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Ecosystem</a:t>
            </a:r>
            <a:endParaRPr lang="en-US" sz="1450" dirty="0">
              <a:solidFill>
                <a:srgbClr val="EAF3F6"/>
              </a:solidFill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6574191" y="1856405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First-class support in Terraform and native CloudFormation, both well documented</a:t>
            </a:r>
            <a:endParaRPr lang="en-US" sz="1200" dirty="0">
              <a:solidFill>
                <a:srgbClr val="EAF3F6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48640" y="2799703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458C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807720" y="3282351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50" dirty="0">
              <a:solidFill>
                <a:srgbClr val="458CA7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263640" y="281178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DCEAF0"/>
          </a:solidFill>
          <a:ln/>
        </p:spPr>
        <p:txBody>
          <a:bodyPr/>
          <a:lstStyle/>
          <a:p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 Access</a:t>
            </a:r>
            <a:endParaRPr lang="en-US" sz="1400" dirty="0">
              <a:solidFill>
                <a:srgbClr val="065A82"/>
              </a:solidFill>
            </a:endParaRPr>
          </a:p>
          <a:p>
            <a:endParaRPr lang="en-IN" dirty="0"/>
          </a:p>
        </p:txBody>
      </p:sp>
      <p:sp>
        <p:nvSpPr>
          <p:cNvPr id="23" name="Text 21"/>
          <p:cNvSpPr txBox="1"/>
          <p:nvPr/>
        </p:nvSpPr>
        <p:spPr>
          <a:xfrm>
            <a:off x="807720" y="2832915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Community</a:t>
            </a:r>
            <a:endParaRPr lang="en-US" sz="1450" dirty="0">
              <a:solidFill>
                <a:srgbClr val="EAF3F6"/>
              </a:solidFill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807720" y="3241807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Extensive official docs and community modules speed up development</a:t>
            </a:r>
            <a:endParaRPr lang="en-US" sz="1200" dirty="0">
              <a:solidFill>
                <a:srgbClr val="EAF3F6"/>
              </a:solidFill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11457432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048E2F-B6FE-B81B-33C2-77A61780AD80}"/>
              </a:ext>
            </a:extLst>
          </p:cNvPr>
          <p:cNvSpPr txBox="1"/>
          <p:nvPr/>
        </p:nvSpPr>
        <p:spPr>
          <a:xfrm>
            <a:off x="6291072" y="3157029"/>
            <a:ext cx="60945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58C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free tier suits a student project budget and reproducible demos</a:t>
            </a:r>
            <a:endParaRPr lang="en-US" sz="1200" dirty="0">
              <a:solidFill>
                <a:srgbClr val="458CA7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Selected Services — Overview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7288810"/>
              </p:ext>
            </p:extLst>
          </p:nvPr>
        </p:nvGraphicFramePr>
        <p:xfrm>
          <a:off x="548640" y="1371600"/>
          <a:ext cx="11064240" cy="390448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Service(s)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in the Architecture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Presentation Tier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S3 + CloudFront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Hosts and delivers static UI content via CDN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Tier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EC2 behind Application Load Balancer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application logic with autoscaling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Tier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RDS (Multi-AZ)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 relational database with failover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VPC, Subnets, Security Groups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Isolates and secures traffic between tiers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IaC &amp; Automation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Terraform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Defines and version-controls all resources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CloudWatch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Tracks metrics, logs, and alarms post-deployment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Selection — Reasoning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440680" cy="868680"/>
          </a:xfrm>
          <a:prstGeom prst="roundRect">
            <a:avLst>
              <a:gd name="adj" fmla="val 8421"/>
            </a:avLst>
          </a:prstGeom>
          <a:solidFill>
            <a:srgbClr val="EAF3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777240" y="1444752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+ CloudFront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737360"/>
            <a:ext cx="4983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58C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static hosting removes server management for the UI layer; CloudFront reduces latency via edge caching.</a:t>
            </a:r>
            <a:endParaRPr lang="en-US" sz="1200" dirty="0">
              <a:solidFill>
                <a:srgbClr val="458CA7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6172200" y="1371600"/>
            <a:ext cx="5440680" cy="868680"/>
          </a:xfrm>
          <a:prstGeom prst="roundRect">
            <a:avLst>
              <a:gd name="adj" fmla="val 8421"/>
            </a:avLst>
          </a:prstGeom>
          <a:solidFill>
            <a:srgbClr val="458C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6400800" y="1444752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+ ALB</a:t>
            </a:r>
            <a:endParaRPr lang="en-US" sz="1300" dirty="0">
              <a:solidFill>
                <a:srgbClr val="EAF3F6"/>
              </a:solidFill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400800" y="1737360"/>
            <a:ext cx="4983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 distributes traffic and enables horizontal autoscaling for variable application load.</a:t>
            </a:r>
            <a:endParaRPr lang="en-US" sz="1200" dirty="0">
              <a:solidFill>
                <a:srgbClr val="EAF3F6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2377440"/>
            <a:ext cx="5440680" cy="868680"/>
          </a:xfrm>
          <a:prstGeom prst="roundRect">
            <a:avLst>
              <a:gd name="adj" fmla="val 8421"/>
            </a:avLst>
          </a:prstGeom>
          <a:solidFill>
            <a:srgbClr val="458C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777240" y="2450592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(Multi-AZ)</a:t>
            </a:r>
            <a:endParaRPr lang="en-US" sz="1300" dirty="0">
              <a:solidFill>
                <a:srgbClr val="EAF3F6"/>
              </a:solidFill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777240" y="2743200"/>
            <a:ext cx="4983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database automates backups, patching, and failover — reducing operational overhead.</a:t>
            </a:r>
            <a:endParaRPr lang="en-US" sz="1200" dirty="0">
              <a:solidFill>
                <a:srgbClr val="EAF3F6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172200" y="2377440"/>
            <a:ext cx="5440680" cy="868680"/>
          </a:xfrm>
          <a:prstGeom prst="roundRect">
            <a:avLst>
              <a:gd name="adj" fmla="val 8421"/>
            </a:avLst>
          </a:prstGeom>
          <a:solidFill>
            <a:srgbClr val="EAF3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6400800" y="2450592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&amp; Security Groups</a:t>
            </a:r>
            <a:endParaRPr lang="en-US" sz="1300" dirty="0">
              <a:solidFill>
                <a:srgbClr val="065A82"/>
              </a:solidFill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6400800" y="2743200"/>
            <a:ext cx="4983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58C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network isolation between tiers, exposing only what each layer needs to the next.</a:t>
            </a:r>
            <a:endParaRPr lang="en-US" sz="1200" dirty="0">
              <a:solidFill>
                <a:srgbClr val="458CA7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8640" y="3383280"/>
            <a:ext cx="5440680" cy="868680"/>
          </a:xfrm>
          <a:prstGeom prst="roundRect">
            <a:avLst>
              <a:gd name="adj" fmla="val 8421"/>
            </a:avLst>
          </a:prstGeom>
          <a:solidFill>
            <a:srgbClr val="EAF3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777240" y="3456432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3749040"/>
            <a:ext cx="4983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58C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Declarative, provider-agnostic syntax makes the entire stack reproducible and version-controlled.</a:t>
            </a:r>
            <a:endParaRPr lang="en-US" sz="1200" dirty="0">
              <a:solidFill>
                <a:srgbClr val="458CA7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172200" y="3383280"/>
            <a:ext cx="5440680" cy="868680"/>
          </a:xfrm>
          <a:prstGeom prst="roundRect">
            <a:avLst>
              <a:gd name="adj" fmla="val 8421"/>
            </a:avLst>
          </a:prstGeom>
          <a:solidFill>
            <a:srgbClr val="458C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6400800" y="3456432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</a:t>
            </a:r>
            <a:endParaRPr lang="en-US" sz="1300" dirty="0">
              <a:solidFill>
                <a:srgbClr val="EAF3F6"/>
              </a:solidFill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6400800" y="3749040"/>
            <a:ext cx="4983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metrics and alarms give visibility into the provisioned infrastructure's health.</a:t>
            </a:r>
            <a:endParaRPr lang="en-US" sz="1200" dirty="0">
              <a:solidFill>
                <a:srgbClr val="EAF3F6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Architecture Diagram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566160" y="1417320"/>
            <a:ext cx="8046720" cy="4892040"/>
          </a:xfrm>
          <a:prstGeom prst="roundRect">
            <a:avLst>
              <a:gd name="adj" fmla="val 2243"/>
            </a:avLst>
          </a:prstGeom>
          <a:solidFill>
            <a:srgbClr val="F4F9FA"/>
          </a:solidFill>
          <a:ln w="19050">
            <a:solidFill>
              <a:srgbClr val="1C7293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3749040" y="1508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120140" y="1436988"/>
            <a:ext cx="685800" cy="666132"/>
          </a:xfrm>
          <a:prstGeom prst="ellipse">
            <a:avLst/>
          </a:prstGeom>
          <a:solidFill>
            <a:srgbClr val="5C74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1097280" y="143698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9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120700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609922"/>
            <a:ext cx="1874520" cy="868680"/>
          </a:xfrm>
          <a:prstGeom prst="roundRect">
            <a:avLst>
              <a:gd name="adj" fmla="val 8421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457200" y="2590254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S3 (Static UI)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931920" y="196596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DCEAF0"/>
          </a:solidFill>
          <a:ln w="12700">
            <a:solidFill>
              <a:srgbClr val="B6D2D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069080" y="2011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Subnet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60520" y="2286000"/>
            <a:ext cx="3108960" cy="594360"/>
          </a:xfrm>
          <a:prstGeom prst="roundRect">
            <a:avLst>
              <a:gd name="adj" fmla="val 9231"/>
            </a:avLst>
          </a:prstGeom>
          <a:solidFill>
            <a:srgbClr val="065A8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160520" y="22860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Load Balancer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931920" y="324612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DCEAF0"/>
          </a:solidFill>
          <a:ln w="12700">
            <a:solidFill>
              <a:srgbClr val="B6D2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4069080" y="32918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Subnet — App Tier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60520" y="3566160"/>
            <a:ext cx="1554480" cy="960120"/>
          </a:xfrm>
          <a:prstGeom prst="roundRect">
            <a:avLst>
              <a:gd name="adj" fmla="val 14153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4072197" y="3458934"/>
            <a:ext cx="1699953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EC2 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Instance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069080" y="455371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Scaling Group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931920" y="489204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DCEAF0"/>
          </a:solidFill>
          <a:ln w="12700">
            <a:solidFill>
              <a:srgbClr val="B6D2D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069080" y="49377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Subnet — Data Tier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160520" y="5212080"/>
            <a:ext cx="3108960" cy="777240"/>
          </a:xfrm>
          <a:prstGeom prst="roundRect">
            <a:avLst>
              <a:gd name="adj" fmla="val 7059"/>
            </a:avLst>
          </a:prstGeom>
          <a:solidFill>
            <a:srgbClr val="1C729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160520" y="52120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RDS (Multi-AZ)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8229600" y="1965960"/>
            <a:ext cx="2148840" cy="777240"/>
          </a:xfrm>
          <a:prstGeom prst="roundRect">
            <a:avLst>
              <a:gd name="adj" fmla="val 21107"/>
            </a:avLst>
          </a:prstGeom>
          <a:solidFill>
            <a:srgbClr val="458CA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CloudWatch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(Monitoring)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229600" y="5349240"/>
            <a:ext cx="2148840" cy="777240"/>
          </a:xfrm>
          <a:prstGeom prst="roundRect">
            <a:avLst>
              <a:gd name="adj" fmla="val 9412"/>
            </a:avLst>
          </a:prstGeom>
          <a:solidFill>
            <a:srgbClr val="21295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29600" y="53492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(Provisions all resources)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 flipH="1">
            <a:off x="1417320" y="2011680"/>
            <a:ext cx="0" cy="594360"/>
          </a:xfrm>
          <a:prstGeom prst="line">
            <a:avLst/>
          </a:prstGeom>
          <a:noFill/>
          <a:ln w="22225">
            <a:solidFill>
              <a:srgbClr val="5C7480"/>
            </a:solidFill>
            <a:prstDash val="solid"/>
            <a:tailEnd type="triangle"/>
          </a:ln>
        </p:spPr>
        <p:txBody>
          <a:bodyPr/>
          <a:lstStyle/>
          <a:p>
            <a:endParaRPr lang="en-IN" dirty="0"/>
          </a:p>
        </p:txBody>
      </p:sp>
      <p:sp>
        <p:nvSpPr>
          <p:cNvPr id="32" name="Shape 30"/>
          <p:cNvSpPr/>
          <p:nvPr/>
        </p:nvSpPr>
        <p:spPr>
          <a:xfrm flipV="1">
            <a:off x="2331720" y="2788920"/>
            <a:ext cx="1600200" cy="0"/>
          </a:xfrm>
          <a:prstGeom prst="line">
            <a:avLst/>
          </a:prstGeom>
          <a:noFill/>
          <a:ln w="22225">
            <a:solidFill>
              <a:srgbClr val="5C748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5715000" y="2880360"/>
            <a:ext cx="0" cy="365760"/>
          </a:xfrm>
          <a:prstGeom prst="line">
            <a:avLst/>
          </a:prstGeom>
          <a:noFill/>
          <a:ln w="22225">
            <a:solidFill>
              <a:srgbClr val="5C7480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5715000" y="4709160"/>
            <a:ext cx="0" cy="182880"/>
          </a:xfrm>
          <a:prstGeom prst="line">
            <a:avLst/>
          </a:prstGeom>
          <a:noFill/>
          <a:ln w="22225">
            <a:solidFill>
              <a:srgbClr val="5C7480"/>
            </a:solidFill>
            <a:prstDash val="solid"/>
            <a:tailEnd type="triangle"/>
          </a:ln>
        </p:spPr>
      </p:sp>
      <p:sp>
        <p:nvSpPr>
          <p:cNvPr id="36" name="Shape 16">
            <a:extLst>
              <a:ext uri="{FF2B5EF4-FFF2-40B4-BE49-F238E27FC236}">
                <a16:creationId xmlns:a16="http://schemas.microsoft.com/office/drawing/2014/main" id="{2E7B7036-1CC3-9CF2-AFE2-8C9A438A6447}"/>
              </a:ext>
            </a:extLst>
          </p:cNvPr>
          <p:cNvSpPr/>
          <p:nvPr/>
        </p:nvSpPr>
        <p:spPr>
          <a:xfrm>
            <a:off x="5829300" y="3566160"/>
            <a:ext cx="1554480" cy="960120"/>
          </a:xfrm>
          <a:prstGeom prst="roundRect">
            <a:avLst>
              <a:gd name="adj" fmla="val 12947"/>
            </a:avLst>
          </a:prstGeom>
          <a:solidFill>
            <a:srgbClr val="21295C"/>
          </a:solidFill>
          <a:ln/>
        </p:spPr>
        <p:txBody>
          <a:bodyPr/>
          <a:lstStyle/>
          <a:p>
            <a:pPr algn="ctr"/>
            <a:endParaRPr lang="en-US" sz="1050" dirty="0">
              <a:solidFill>
                <a:srgbClr val="FFFFFF"/>
              </a:solidFill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05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EC2 </a:t>
            </a:r>
            <a:endParaRPr lang="en-US" sz="1050" dirty="0"/>
          </a:p>
          <a:p>
            <a:pPr algn="ctr"/>
            <a:r>
              <a:rPr lang="en-US" sz="105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Instance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Deployment Approach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221481" y="1965960"/>
            <a:ext cx="1956816" cy="3017520"/>
          </a:xfrm>
          <a:prstGeom prst="roundRect">
            <a:avLst>
              <a:gd name="adj" fmla="val 4673"/>
            </a:avLst>
          </a:prstGeom>
          <a:solidFill>
            <a:srgbClr val="458C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1846680" y="1627632"/>
            <a:ext cx="585216" cy="585216"/>
          </a:xfrm>
          <a:prstGeom prst="flowChartConnector">
            <a:avLst/>
          </a:prstGeom>
          <a:solidFill>
            <a:srgbClr val="EAF3F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64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64" dirty="0">
              <a:solidFill>
                <a:srgbClr val="065A82"/>
              </a:solidFill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384519" y="2423160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411951" y="2880360"/>
            <a:ext cx="162763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target infrastructure (VPC, compute, database, networking) as declarative Terraform configuration.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22463" y="3346704"/>
            <a:ext cx="274320" cy="256032"/>
          </a:xfrm>
          <a:prstGeom prst="rightArrow">
            <a:avLst/>
          </a:prstGeom>
          <a:solidFill>
            <a:srgbClr val="5C74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496783" y="1920240"/>
            <a:ext cx="1956816" cy="3017520"/>
          </a:xfrm>
          <a:prstGeom prst="roundRect">
            <a:avLst>
              <a:gd name="adj" fmla="val 4673"/>
            </a:avLst>
          </a:prstGeom>
          <a:solidFill>
            <a:srgbClr val="EAF3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4223731" y="1676699"/>
            <a:ext cx="585216" cy="585216"/>
          </a:xfrm>
          <a:prstGeom prst="flowChartConnector">
            <a:avLst/>
          </a:prstGeom>
          <a:solidFill>
            <a:srgbClr val="458CA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64" dirty="0">
                <a:solidFill>
                  <a:srgbClr val="EAF3F6"/>
                </a:solidFill>
              </a:rPr>
              <a:t>2</a:t>
            </a:r>
          </a:p>
        </p:txBody>
      </p:sp>
      <p:sp>
        <p:nvSpPr>
          <p:cNvPr id="21" name="Text 19"/>
          <p:cNvSpPr txBox="1"/>
          <p:nvPr/>
        </p:nvSpPr>
        <p:spPr>
          <a:xfrm>
            <a:off x="3632859" y="2406852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500" dirty="0">
              <a:solidFill>
                <a:srgbClr val="065A82"/>
              </a:solidFill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3702523" y="2867257"/>
            <a:ext cx="162763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the execution plan to see exactly which resources will be created, changed, or destroyed.</a:t>
            </a:r>
            <a:endParaRPr lang="en-US" sz="1200" dirty="0">
              <a:solidFill>
                <a:srgbClr val="065A82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453599" y="3300984"/>
            <a:ext cx="274320" cy="256032"/>
          </a:xfrm>
          <a:prstGeom prst="rightArrow">
            <a:avLst/>
          </a:prstGeom>
          <a:solidFill>
            <a:srgbClr val="5C74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5727919" y="1920240"/>
            <a:ext cx="1956816" cy="3017520"/>
          </a:xfrm>
          <a:prstGeom prst="roundRect">
            <a:avLst>
              <a:gd name="adj" fmla="val 4673"/>
            </a:avLst>
          </a:prstGeom>
          <a:solidFill>
            <a:srgbClr val="458C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6348627" y="1623060"/>
            <a:ext cx="585216" cy="585216"/>
          </a:xfrm>
          <a:prstGeom prst="flowChartConnector">
            <a:avLst/>
          </a:prstGeom>
          <a:solidFill>
            <a:srgbClr val="EAF3F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64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64" dirty="0">
              <a:solidFill>
                <a:srgbClr val="065A82"/>
              </a:solidFill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5799987" y="2424763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500" dirty="0">
              <a:solidFill>
                <a:srgbClr val="EAF3F6"/>
              </a:solidFill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5946032" y="2875270"/>
            <a:ext cx="162763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the reviewed plan against AWS, creating all tiers in the correct dependency order.</a:t>
            </a:r>
            <a:endParaRPr lang="en-US" sz="1200" dirty="0">
              <a:solidFill>
                <a:srgbClr val="EAF3F6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7712167" y="3300984"/>
            <a:ext cx="274320" cy="256032"/>
          </a:xfrm>
          <a:prstGeom prst="rightArrow">
            <a:avLst/>
          </a:prstGeom>
          <a:solidFill>
            <a:srgbClr val="5C748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006790" y="1883664"/>
            <a:ext cx="1956816" cy="3017520"/>
          </a:xfrm>
          <a:prstGeom prst="roundRect">
            <a:avLst>
              <a:gd name="adj" fmla="val 4673"/>
            </a:avLst>
          </a:prstGeom>
          <a:solidFill>
            <a:srgbClr val="EAF3F6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2" name="Text 30"/>
          <p:cNvSpPr txBox="1"/>
          <p:nvPr/>
        </p:nvSpPr>
        <p:spPr>
          <a:xfrm>
            <a:off x="8639199" y="1627632"/>
            <a:ext cx="585216" cy="585216"/>
          </a:xfrm>
          <a:prstGeom prst="flowChartConnector">
            <a:avLst/>
          </a:prstGeom>
          <a:solidFill>
            <a:srgbClr val="458CA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64" dirty="0"/>
          </a:p>
        </p:txBody>
      </p:sp>
      <p:sp>
        <p:nvSpPr>
          <p:cNvPr id="33" name="Text 31"/>
          <p:cNvSpPr txBox="1"/>
          <p:nvPr/>
        </p:nvSpPr>
        <p:spPr>
          <a:xfrm>
            <a:off x="8006790" y="2406852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500" dirty="0">
              <a:solidFill>
                <a:srgbClr val="065A82"/>
              </a:solidFill>
            </a:endParaRPr>
          </a:p>
        </p:txBody>
      </p:sp>
      <p:sp>
        <p:nvSpPr>
          <p:cNvPr id="34" name="Text 32"/>
          <p:cNvSpPr txBox="1"/>
          <p:nvPr/>
        </p:nvSpPr>
        <p:spPr>
          <a:xfrm>
            <a:off x="8171382" y="2880360"/>
            <a:ext cx="162763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resources are live and healthy, and observe them through the monitoring service.</a:t>
            </a:r>
            <a:endParaRPr lang="en-US" sz="1200" dirty="0">
              <a:solidFill>
                <a:srgbClr val="065A82"/>
              </a:solidFill>
            </a:endParaRPr>
          </a:p>
        </p:txBody>
      </p:sp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Results Will Be Shown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520440" cy="1508760"/>
          </a:xfrm>
          <a:prstGeom prst="roundRect">
            <a:avLst>
              <a:gd name="adj" fmla="val 6061"/>
            </a:avLst>
          </a:prstGeom>
          <a:solidFill>
            <a:srgbClr val="EAF3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77240" y="16459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1031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Plan/Apply Output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404613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logs showing resources being created in dependency order, demonstrated live.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25112" y="1417320"/>
            <a:ext cx="3520440" cy="1508760"/>
          </a:xfrm>
          <a:prstGeom prst="roundRect">
            <a:avLst>
              <a:gd name="adj" fmla="val 6061"/>
            </a:avLst>
          </a:prstGeom>
          <a:solidFill>
            <a:srgbClr val="458C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4581144" y="1577340"/>
            <a:ext cx="457200" cy="457200"/>
          </a:xfrm>
          <a:prstGeom prst="flowChartConnector">
            <a:avLst/>
          </a:prstGeom>
          <a:solidFill>
            <a:srgbClr val="EAF3F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>
              <a:solidFill>
                <a:srgbClr val="065A82"/>
              </a:solidFill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4627554" y="210083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Console Verification</a:t>
            </a:r>
            <a:endParaRPr lang="en-US" sz="1250" dirty="0">
              <a:solidFill>
                <a:srgbClr val="EAF3F6"/>
              </a:solidFill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4581144" y="2404613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Provisioned VPC, EC2, RDS, and load balancer resources shown directly in the AWS console.</a:t>
            </a:r>
            <a:endParaRPr lang="en-US" sz="1200" dirty="0">
              <a:solidFill>
                <a:srgbClr val="EAF3F6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101584" y="1417320"/>
            <a:ext cx="3520440" cy="1508760"/>
          </a:xfrm>
          <a:prstGeom prst="roundRect">
            <a:avLst>
              <a:gd name="adj" fmla="val 6061"/>
            </a:avLst>
          </a:prstGeom>
          <a:solidFill>
            <a:srgbClr val="EAF3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8330184" y="16459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30184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444484" y="21031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Access Test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452334" y="238278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deployed application URL to confirm the presentation tier reaches the app and data tiers.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154680"/>
            <a:ext cx="3520440" cy="1508760"/>
          </a:xfrm>
          <a:prstGeom prst="roundRect">
            <a:avLst>
              <a:gd name="adj" fmla="val 6061"/>
            </a:avLst>
          </a:prstGeom>
          <a:solidFill>
            <a:srgbClr val="458C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777240" y="3383280"/>
            <a:ext cx="457200" cy="457200"/>
          </a:xfrm>
          <a:prstGeom prst="flowChartConnector">
            <a:avLst/>
          </a:prstGeom>
          <a:solidFill>
            <a:srgbClr val="EAF3F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>
              <a:solidFill>
                <a:srgbClr val="065A82"/>
              </a:solidFill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798576" y="38404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Dashboards</a:t>
            </a:r>
            <a:endParaRPr lang="en-US" sz="1250" dirty="0">
              <a:solidFill>
                <a:srgbClr val="EAF3F6"/>
              </a:solidFill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798576" y="41376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and health checks confirming the environment is running as expected post-deployment.</a:t>
            </a:r>
            <a:endParaRPr lang="en-US" sz="1200" dirty="0">
              <a:solidFill>
                <a:srgbClr val="EAF3F6"/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352544" y="3094726"/>
            <a:ext cx="3520440" cy="1508760"/>
          </a:xfrm>
          <a:prstGeom prst="roundRect">
            <a:avLst>
              <a:gd name="adj" fmla="val 6061"/>
            </a:avLst>
          </a:prstGeom>
          <a:solidFill>
            <a:srgbClr val="EAF3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553712" y="33832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553712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549140" y="379018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Repeatability Check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4581144" y="4137833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Destroy and re-apply the same configuration to show an identical environment is recreated.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101584" y="3154680"/>
            <a:ext cx="3520440" cy="1508760"/>
          </a:xfrm>
          <a:prstGeom prst="roundRect">
            <a:avLst>
              <a:gd name="adj" fmla="val 6061"/>
            </a:avLst>
          </a:prstGeom>
          <a:solidFill>
            <a:srgbClr val="458C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 txBox="1"/>
          <p:nvPr/>
        </p:nvSpPr>
        <p:spPr>
          <a:xfrm>
            <a:off x="8330184" y="3383280"/>
            <a:ext cx="457200" cy="457200"/>
          </a:xfrm>
          <a:prstGeom prst="flowChartConnector">
            <a:avLst/>
          </a:prstGeom>
          <a:solidFill>
            <a:srgbClr val="EAF3F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>
              <a:solidFill>
                <a:srgbClr val="065A82"/>
              </a:solidFill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8330184" y="379018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Walkthrough</a:t>
            </a:r>
            <a:endParaRPr lang="en-US" sz="1250" dirty="0">
              <a:solidFill>
                <a:srgbClr val="EAF3F6"/>
              </a:solidFill>
            </a:endParaRPr>
          </a:p>
        </p:txBody>
      </p:sp>
      <p:sp>
        <p:nvSpPr>
          <p:cNvPr id="34" name="Text 32"/>
          <p:cNvSpPr txBox="1"/>
          <p:nvPr/>
        </p:nvSpPr>
        <p:spPr>
          <a:xfrm>
            <a:off x="8330184" y="415594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A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the live, running resources back to the proposed architecture diagram.</a:t>
            </a:r>
            <a:endParaRPr lang="en-US" sz="1200" dirty="0">
              <a:solidFill>
                <a:srgbClr val="EAF3F6"/>
              </a:solidFill>
            </a:endParaRPr>
          </a:p>
        </p:txBody>
      </p:sp>
    </p:spTree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used for Concept Demonstration</a:t>
            </a:r>
            <a:endParaRPr lang="en-US" sz="3000" dirty="0">
              <a:solidFill>
                <a:srgbClr val="065A82"/>
              </a:solidFill>
            </a:endParaRPr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6895687"/>
              </p:ext>
            </p:extLst>
          </p:nvPr>
        </p:nvGraphicFramePr>
        <p:xfrm>
          <a:off x="548640" y="1371600"/>
          <a:ext cx="11064240" cy="3039013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For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49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 as Code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Terraform (CLI)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Defining and provisioning AWS resources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Execution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Free Tier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Hosting the actual provisioned environment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CloudWatch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Observing provisioned resources post-deployment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 Verification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Console / Browser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Confirming the deployed application is reachable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 &amp; Conclusion</a:t>
            </a:r>
            <a:endParaRPr lang="en-US" sz="3000" dirty="0">
              <a:solidFill>
                <a:srgbClr val="065A82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75554" y="1463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6766560" cy="914400"/>
          </a:xfrm>
          <a:prstGeom prst="roundRect">
            <a:avLst>
              <a:gd name="adj" fmla="val 11093"/>
            </a:avLst>
          </a:prstGeom>
          <a:solidFill>
            <a:srgbClr val="458C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685800" y="1714500"/>
            <a:ext cx="502920" cy="502920"/>
          </a:xfrm>
          <a:prstGeom prst="flowChartConnector">
            <a:avLst/>
          </a:prstGeom>
          <a:solidFill>
            <a:srgbClr val="EAF3F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30" dirty="0">
              <a:solidFill>
                <a:srgbClr val="065A82"/>
              </a:solidFill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1417320" y="155448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provisioned 3-tier application on AWS, defined entirely as version-controlled Terraform code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633472"/>
            <a:ext cx="6766560" cy="914400"/>
          </a:xfrm>
          <a:prstGeom prst="roundRect">
            <a:avLst>
              <a:gd name="adj" fmla="val 8000"/>
            </a:avLst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49808" y="28346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3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2633472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single, repeatable command sequence that recreates an identical environment on demand</a:t>
            </a:r>
            <a:endParaRPr lang="en-US" sz="1250" dirty="0">
              <a:solidFill>
                <a:srgbClr val="065A82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3712464"/>
            <a:ext cx="6766560" cy="914400"/>
          </a:xfrm>
          <a:prstGeom prst="roundRect">
            <a:avLst>
              <a:gd name="adj" fmla="val 8000"/>
            </a:avLst>
          </a:prstGeom>
          <a:solidFill>
            <a:srgbClr val="458C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750986" y="3909060"/>
            <a:ext cx="502920" cy="502920"/>
          </a:xfrm>
          <a:prstGeom prst="flowChartConnector">
            <a:avLst/>
          </a:prstGeom>
          <a:solidFill>
            <a:srgbClr val="EAF3F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30" dirty="0">
              <a:solidFill>
                <a:srgbClr val="065A82"/>
              </a:solidFill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1417320" y="3712464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separation and secure communication between presentation, application, and data tiers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791456"/>
            <a:ext cx="6766560" cy="914400"/>
          </a:xfrm>
          <a:prstGeom prst="roundRect">
            <a:avLst>
              <a:gd name="adj" fmla="val 8000"/>
            </a:avLst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749808" y="4992624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49808" y="49926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3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4791456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 documented and demonstrable running infrastructure ready by our next review</a:t>
            </a:r>
            <a:endParaRPr lang="en-US" sz="1250" dirty="0">
              <a:solidFill>
                <a:srgbClr val="065A82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635240" y="1554480"/>
            <a:ext cx="3977640" cy="4251960"/>
          </a:xfrm>
          <a:prstGeom prst="roundRect">
            <a:avLst>
              <a:gd name="adj" fmla="val 2759"/>
            </a:avLst>
          </a:prstGeom>
          <a:solidFill>
            <a:schemeClr val="tx2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7909560" y="1783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7909560" y="224028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58C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use case demonstrates how Infrastructure as Code turns cloud provisioning from a manual, error-prone task into an automated, auditable, and reproducible engineering practice — directly applicable to real-world multi-tier deployments.</a:t>
            </a:r>
            <a:endParaRPr lang="en-US" sz="1200" dirty="0">
              <a:solidFill>
                <a:srgbClr val="458CA7"/>
              </a:solidFill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7909560" y="4160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909560" y="448056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58C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the Terraform configuration, execute the deployment, and capture results for  our next review.</a:t>
            </a:r>
            <a:endParaRPr lang="en-US" sz="1200" dirty="0">
              <a:solidFill>
                <a:srgbClr val="458CA7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3F5D6D-21CE-C5D1-2B3F-8D14045F8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9C104BD3-4BBB-156D-863F-3A3735E19990}"/>
              </a:ext>
            </a:extLst>
          </p:cNvPr>
          <p:cNvSpPr txBox="1"/>
          <p:nvPr/>
        </p:nvSpPr>
        <p:spPr>
          <a:xfrm>
            <a:off x="8595360" y="1554480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5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B4B7E53-F3CD-C0C2-4C24-0C072E54F124}"/>
              </a:ext>
            </a:extLst>
          </p:cNvPr>
          <p:cNvSpPr txBox="1"/>
          <p:nvPr/>
        </p:nvSpPr>
        <p:spPr>
          <a:xfrm>
            <a:off x="8595360" y="3063240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5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9B6B94E-C025-BEE4-630D-70AC5F562993}"/>
              </a:ext>
            </a:extLst>
          </p:cNvPr>
          <p:cNvSpPr txBox="1"/>
          <p:nvPr/>
        </p:nvSpPr>
        <p:spPr>
          <a:xfrm>
            <a:off x="8595360" y="4572000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5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45F06AF-6A20-2209-AA0B-237B36B03BD8}"/>
              </a:ext>
            </a:extLst>
          </p:cNvPr>
          <p:cNvSpPr txBox="1"/>
          <p:nvPr/>
        </p:nvSpPr>
        <p:spPr>
          <a:xfrm>
            <a:off x="64008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B045ACE-4BD8-68A3-C580-BF79AD0C3392}"/>
              </a:ext>
            </a:extLst>
          </p:cNvPr>
          <p:cNvSpPr txBox="1"/>
          <p:nvPr/>
        </p:nvSpPr>
        <p:spPr>
          <a:xfrm>
            <a:off x="594360" y="3136392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endParaRPr lang="en-US" sz="13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6F20204-1201-6EE7-586F-B6B77F2727E5}"/>
              </a:ext>
            </a:extLst>
          </p:cNvPr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E36D4C-7578-E23D-E42E-2BF582A3A9DD}"/>
              </a:ext>
            </a:extLst>
          </p:cNvPr>
          <p:cNvSpPr txBox="1"/>
          <p:nvPr/>
        </p:nvSpPr>
        <p:spPr>
          <a:xfrm>
            <a:off x="4114800" y="2668476"/>
            <a:ext cx="491246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rgbClr val="EAF3F6"/>
                </a:solidFill>
              </a:rPr>
              <a:t>Thank You!</a:t>
            </a:r>
            <a:endParaRPr lang="en-IN" sz="6600" dirty="0">
              <a:solidFill>
                <a:srgbClr val="EAF3F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1520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659</TotalTime>
  <Words>978</Words>
  <Application>Microsoft Office PowerPoint</Application>
  <PresentationFormat>Widescreen</PresentationFormat>
  <Paragraphs>182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Joydeep Mandal</cp:lastModifiedBy>
  <cp:revision>14</cp:revision>
  <dcterms:created xsi:type="dcterms:W3CDTF">2026-08-26T09:36:05Z</dcterms:created>
  <dcterms:modified xsi:type="dcterms:W3CDTF">2026-09-09T06:14:14Z</dcterms:modified>
</cp:coreProperties>
</file>